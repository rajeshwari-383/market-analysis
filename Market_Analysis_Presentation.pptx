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1F4A46-3D28-43B7-8CF4-75BF3755BF44}" v="11" dt="2026-09-18T13:28:02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shwari Pasunuri" userId="c3ce138c40912aea" providerId="LiveId" clId="{48B9BCEC-BB99-4237-B168-360A60A1462B}"/>
    <pc:docChg chg="undo custSel modSld">
      <pc:chgData name="Rajeshwari Pasunuri" userId="c3ce138c40912aea" providerId="LiveId" clId="{48B9BCEC-BB99-4237-B168-360A60A1462B}" dt="2026-09-18T13:31:08.345" v="207" actId="1076"/>
      <pc:docMkLst>
        <pc:docMk/>
      </pc:docMkLst>
      <pc:sldChg chg="delSp modSp mod">
        <pc:chgData name="Rajeshwari Pasunuri" userId="c3ce138c40912aea" providerId="LiveId" clId="{48B9BCEC-BB99-4237-B168-360A60A1462B}" dt="2026-09-18T13:31:08.345" v="207" actId="1076"/>
        <pc:sldMkLst>
          <pc:docMk/>
          <pc:sldMk cId="0" sldId="256"/>
        </pc:sldMkLst>
        <pc:spChg chg="mod">
          <ac:chgData name="Rajeshwari Pasunuri" userId="c3ce138c40912aea" providerId="LiveId" clId="{48B9BCEC-BB99-4237-B168-360A60A1462B}" dt="2026-09-18T13:31:08.345" v="207" actId="1076"/>
          <ac:spMkLst>
            <pc:docMk/>
            <pc:sldMk cId="0" sldId="256"/>
            <ac:spMk id="6" creationId="{00000000-0000-0000-0000-000000000000}"/>
          </ac:spMkLst>
        </pc:spChg>
        <pc:spChg chg="del">
          <ac:chgData name="Rajeshwari Pasunuri" userId="c3ce138c40912aea" providerId="LiveId" clId="{48B9BCEC-BB99-4237-B168-360A60A1462B}" dt="2026-09-18T13:14:35.334" v="0" actId="478"/>
          <ac:spMkLst>
            <pc:docMk/>
            <pc:sldMk cId="0" sldId="256"/>
            <ac:spMk id="8" creationId="{00000000-0000-0000-0000-000000000000}"/>
          </ac:spMkLst>
        </pc:spChg>
      </pc:sldChg>
      <pc:sldChg chg="delSp modSp mod">
        <pc:chgData name="Rajeshwari Pasunuri" userId="c3ce138c40912aea" providerId="LiveId" clId="{48B9BCEC-BB99-4237-B168-360A60A1462B}" dt="2026-09-18T13:21:04.259" v="78" actId="1076"/>
        <pc:sldMkLst>
          <pc:docMk/>
          <pc:sldMk cId="0" sldId="257"/>
        </pc:sldMkLst>
        <pc:spChg chg="mod">
          <ac:chgData name="Rajeshwari Pasunuri" userId="c3ce138c40912aea" providerId="LiveId" clId="{48B9BCEC-BB99-4237-B168-360A60A1462B}" dt="2026-09-18T13:20:41.095" v="76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8T13:17:45.386" v="32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8T13:17:46.471" v="34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8T13:17:45.912" v="33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8T13:16:47.723" v="20" actId="1076"/>
          <ac:spMkLst>
            <pc:docMk/>
            <pc:sldMk cId="0" sldId="257"/>
            <ac:spMk id="29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8T13:16:55.279" v="21" actId="1076"/>
          <ac:spMkLst>
            <pc:docMk/>
            <pc:sldMk cId="0" sldId="257"/>
            <ac:spMk id="30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8T13:17:03.946" v="23" actId="107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8T13:16:58.235" v="22" actId="107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8T13:16:41.243" v="19" actId="107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8T13:17:27.249" v="26" actId="1076"/>
          <ac:spMkLst>
            <pc:docMk/>
            <pc:sldMk cId="0" sldId="257"/>
            <ac:spMk id="34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8T13:17:10.494" v="24" actId="1076"/>
          <ac:spMkLst>
            <pc:docMk/>
            <pc:sldMk cId="0" sldId="257"/>
            <ac:spMk id="35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8T13:17:16.476" v="25" actId="1076"/>
          <ac:spMkLst>
            <pc:docMk/>
            <pc:sldMk cId="0" sldId="257"/>
            <ac:spMk id="36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8T13:20:52.957" v="77" actId="255"/>
          <ac:spMkLst>
            <pc:docMk/>
            <pc:sldMk cId="0" sldId="257"/>
            <ac:spMk id="37" creationId="{00000000-0000-0000-0000-000000000000}"/>
          </ac:spMkLst>
        </pc:spChg>
        <pc:spChg chg="del mod">
          <ac:chgData name="Rajeshwari Pasunuri" userId="c3ce138c40912aea" providerId="LiveId" clId="{48B9BCEC-BB99-4237-B168-360A60A1462B}" dt="2026-09-18T13:19:46.413" v="60" actId="21"/>
          <ac:spMkLst>
            <pc:docMk/>
            <pc:sldMk cId="0" sldId="257"/>
            <ac:spMk id="38" creationId="{00000000-0000-0000-0000-000000000000}"/>
          </ac:spMkLst>
        </pc:spChg>
        <pc:spChg chg="del mod">
          <ac:chgData name="Rajeshwari Pasunuri" userId="c3ce138c40912aea" providerId="LiveId" clId="{48B9BCEC-BB99-4237-B168-360A60A1462B}" dt="2026-09-18T13:20:00.387" v="61" actId="21"/>
          <ac:spMkLst>
            <pc:docMk/>
            <pc:sldMk cId="0" sldId="257"/>
            <ac:spMk id="39" creationId="{00000000-0000-0000-0000-000000000000}"/>
          </ac:spMkLst>
        </pc:spChg>
        <pc:spChg chg="del mod">
          <ac:chgData name="Rajeshwari Pasunuri" userId="c3ce138c40912aea" providerId="LiveId" clId="{48B9BCEC-BB99-4237-B168-360A60A1462B}" dt="2026-09-18T13:20:09.805" v="62" actId="21"/>
          <ac:spMkLst>
            <pc:docMk/>
            <pc:sldMk cId="0" sldId="257"/>
            <ac:spMk id="40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8T13:21:04.259" v="78" actId="1076"/>
          <ac:spMkLst>
            <pc:docMk/>
            <pc:sldMk cId="0" sldId="257"/>
            <ac:spMk id="41" creationId="{00000000-0000-0000-0000-000000000000}"/>
          </ac:spMkLst>
        </pc:spChg>
      </pc:sldChg>
      <pc:sldChg chg="delSp modSp mod">
        <pc:chgData name="Rajeshwari Pasunuri" userId="c3ce138c40912aea" providerId="LiveId" clId="{48B9BCEC-BB99-4237-B168-360A60A1462B}" dt="2026-09-18T13:23:15.838" v="101" actId="1076"/>
        <pc:sldMkLst>
          <pc:docMk/>
          <pc:sldMk cId="0" sldId="260"/>
        </pc:sldMkLst>
        <pc:spChg chg="mod">
          <ac:chgData name="Rajeshwari Pasunuri" userId="c3ce138c40912aea" providerId="LiveId" clId="{48B9BCEC-BB99-4237-B168-360A60A1462B}" dt="2026-09-18T13:23:15.838" v="101" actId="1076"/>
          <ac:spMkLst>
            <pc:docMk/>
            <pc:sldMk cId="0" sldId="260"/>
            <ac:spMk id="10" creationId="{00000000-0000-0000-0000-000000000000}"/>
          </ac:spMkLst>
        </pc:spChg>
        <pc:spChg chg="del">
          <ac:chgData name="Rajeshwari Pasunuri" userId="c3ce138c40912aea" providerId="LiveId" clId="{48B9BCEC-BB99-4237-B168-360A60A1462B}" dt="2026-09-18T13:22:29.077" v="87" actId="21"/>
          <ac:spMkLst>
            <pc:docMk/>
            <pc:sldMk cId="0" sldId="260"/>
            <ac:spMk id="11" creationId="{00000000-0000-0000-0000-000000000000}"/>
          </ac:spMkLst>
        </pc:spChg>
        <pc:spChg chg="del mod">
          <ac:chgData name="Rajeshwari Pasunuri" userId="c3ce138c40912aea" providerId="LiveId" clId="{48B9BCEC-BB99-4237-B168-360A60A1462B}" dt="2026-09-18T13:22:36.108" v="88" actId="21"/>
          <ac:spMkLst>
            <pc:docMk/>
            <pc:sldMk cId="0" sldId="260"/>
            <ac:spMk id="12" creationId="{00000000-0000-0000-0000-000000000000}"/>
          </ac:spMkLst>
        </pc:spChg>
      </pc:sldChg>
      <pc:sldChg chg="delSp modSp mod">
        <pc:chgData name="Rajeshwari Pasunuri" userId="c3ce138c40912aea" providerId="LiveId" clId="{48B9BCEC-BB99-4237-B168-360A60A1462B}" dt="2026-09-18T13:25:13.132" v="130" actId="1076"/>
        <pc:sldMkLst>
          <pc:docMk/>
          <pc:sldMk cId="0" sldId="262"/>
        </pc:sldMkLst>
        <pc:spChg chg="mod">
          <ac:chgData name="Rajeshwari Pasunuri" userId="c3ce138c40912aea" providerId="LiveId" clId="{48B9BCEC-BB99-4237-B168-360A60A1462B}" dt="2026-09-18T13:25:13.132" v="130" actId="1076"/>
          <ac:spMkLst>
            <pc:docMk/>
            <pc:sldMk cId="0" sldId="262"/>
            <ac:spMk id="6" creationId="{00000000-0000-0000-0000-000000000000}"/>
          </ac:spMkLst>
        </pc:spChg>
        <pc:spChg chg="del">
          <ac:chgData name="Rajeshwari Pasunuri" userId="c3ce138c40912aea" providerId="LiveId" clId="{48B9BCEC-BB99-4237-B168-360A60A1462B}" dt="2026-09-18T13:24:41.459" v="112" actId="21"/>
          <ac:spMkLst>
            <pc:docMk/>
            <pc:sldMk cId="0" sldId="262"/>
            <ac:spMk id="7" creationId="{00000000-0000-0000-0000-000000000000}"/>
          </ac:spMkLst>
        </pc:spChg>
        <pc:spChg chg="del mod">
          <ac:chgData name="Rajeshwari Pasunuri" userId="c3ce138c40912aea" providerId="LiveId" clId="{48B9BCEC-BB99-4237-B168-360A60A1462B}" dt="2026-09-18T13:24:35.229" v="111" actId="21"/>
          <ac:spMkLst>
            <pc:docMk/>
            <pc:sldMk cId="0" sldId="262"/>
            <ac:spMk id="8" creationId="{00000000-0000-0000-0000-000000000000}"/>
          </ac:spMkLst>
        </pc:spChg>
        <pc:graphicFrameChg chg="mod modGraphic">
          <ac:chgData name="Rajeshwari Pasunuri" userId="c3ce138c40912aea" providerId="LiveId" clId="{48B9BCEC-BB99-4237-B168-360A60A1462B}" dt="2026-09-18T13:23:52.003" v="103" actId="14100"/>
          <ac:graphicFrameMkLst>
            <pc:docMk/>
            <pc:sldMk cId="0" sldId="262"/>
            <ac:graphicFrameMk id="5" creationId="{00000000-0000-0000-0000-000000000000}"/>
          </ac:graphicFrameMkLst>
        </pc:graphicFrameChg>
      </pc:sldChg>
      <pc:sldChg chg="delSp modSp mod">
        <pc:chgData name="Rajeshwari Pasunuri" userId="c3ce138c40912aea" providerId="LiveId" clId="{48B9BCEC-BB99-4237-B168-360A60A1462B}" dt="2026-09-18T13:26:26.516" v="143"/>
        <pc:sldMkLst>
          <pc:docMk/>
          <pc:sldMk cId="0" sldId="263"/>
        </pc:sldMkLst>
        <pc:spChg chg="mod">
          <ac:chgData name="Rajeshwari Pasunuri" userId="c3ce138c40912aea" providerId="LiveId" clId="{48B9BCEC-BB99-4237-B168-360A60A1462B}" dt="2026-09-18T13:26:23.423" v="141" actId="1076"/>
          <ac:spMkLst>
            <pc:docMk/>
            <pc:sldMk cId="0" sldId="263"/>
            <ac:spMk id="6" creationId="{00000000-0000-0000-0000-000000000000}"/>
          </ac:spMkLst>
        </pc:spChg>
        <pc:spChg chg="del mod">
          <ac:chgData name="Rajeshwari Pasunuri" userId="c3ce138c40912aea" providerId="LiveId" clId="{48B9BCEC-BB99-4237-B168-360A60A1462B}" dt="2026-09-18T13:26:26.516" v="143"/>
          <ac:spMkLst>
            <pc:docMk/>
            <pc:sldMk cId="0" sldId="263"/>
            <ac:spMk id="7" creationId="{00000000-0000-0000-0000-000000000000}"/>
          </ac:spMkLst>
        </pc:spChg>
      </pc:sldChg>
      <pc:sldChg chg="delSp modSp mod">
        <pc:chgData name="Rajeshwari Pasunuri" userId="c3ce138c40912aea" providerId="LiveId" clId="{48B9BCEC-BB99-4237-B168-360A60A1462B}" dt="2026-09-18T13:27:36.407" v="167"/>
        <pc:sldMkLst>
          <pc:docMk/>
          <pc:sldMk cId="0" sldId="265"/>
        </pc:sldMkLst>
        <pc:spChg chg="mod">
          <ac:chgData name="Rajeshwari Pasunuri" userId="c3ce138c40912aea" providerId="LiveId" clId="{48B9BCEC-BB99-4237-B168-360A60A1462B}" dt="2026-09-18T13:27:30.870" v="163" actId="20577"/>
          <ac:spMkLst>
            <pc:docMk/>
            <pc:sldMk cId="0" sldId="265"/>
            <ac:spMk id="6" creationId="{00000000-0000-0000-0000-000000000000}"/>
          </ac:spMkLst>
        </pc:spChg>
        <pc:spChg chg="del mod">
          <ac:chgData name="Rajeshwari Pasunuri" userId="c3ce138c40912aea" providerId="LiveId" clId="{48B9BCEC-BB99-4237-B168-360A60A1462B}" dt="2026-09-18T13:27:36.405" v="165"/>
          <ac:spMkLst>
            <pc:docMk/>
            <pc:sldMk cId="0" sldId="265"/>
            <ac:spMk id="7" creationId="{00000000-0000-0000-0000-000000000000}"/>
          </ac:spMkLst>
        </pc:spChg>
        <pc:spChg chg="del mod">
          <ac:chgData name="Rajeshwari Pasunuri" userId="c3ce138c40912aea" providerId="LiveId" clId="{48B9BCEC-BB99-4237-B168-360A60A1462B}" dt="2026-09-18T13:27:36.407" v="167"/>
          <ac:spMkLst>
            <pc:docMk/>
            <pc:sldMk cId="0" sldId="265"/>
            <ac:spMk id="8" creationId="{00000000-0000-0000-0000-000000000000}"/>
          </ac:spMkLst>
        </pc:spChg>
      </pc:sldChg>
      <pc:sldChg chg="delSp modSp mod">
        <pc:chgData name="Rajeshwari Pasunuri" userId="c3ce138c40912aea" providerId="LiveId" clId="{48B9BCEC-BB99-4237-B168-360A60A1462B}" dt="2026-09-18T13:28:26.496" v="180"/>
        <pc:sldMkLst>
          <pc:docMk/>
          <pc:sldMk cId="0" sldId="266"/>
        </pc:sldMkLst>
        <pc:spChg chg="mod">
          <ac:chgData name="Rajeshwari Pasunuri" userId="c3ce138c40912aea" providerId="LiveId" clId="{48B9BCEC-BB99-4237-B168-360A60A1462B}" dt="2026-09-18T13:28:22.110" v="178" actId="14100"/>
          <ac:spMkLst>
            <pc:docMk/>
            <pc:sldMk cId="0" sldId="266"/>
            <ac:spMk id="10" creationId="{00000000-0000-0000-0000-000000000000}"/>
          </ac:spMkLst>
        </pc:spChg>
        <pc:spChg chg="del mod">
          <ac:chgData name="Rajeshwari Pasunuri" userId="c3ce138c40912aea" providerId="LiveId" clId="{48B9BCEC-BB99-4237-B168-360A60A1462B}" dt="2026-09-18T13:28:26.496" v="180"/>
          <ac:spMkLst>
            <pc:docMk/>
            <pc:sldMk cId="0" sldId="266"/>
            <ac:spMk id="11" creationId="{00000000-0000-0000-0000-000000000000}"/>
          </ac:spMkLst>
        </pc:spChg>
      </pc:sldChg>
      <pc:sldChg chg="modSp mod">
        <pc:chgData name="Rajeshwari Pasunuri" userId="c3ce138c40912aea" providerId="LiveId" clId="{48B9BCEC-BB99-4237-B168-360A60A1462B}" dt="2026-09-18T13:30:45.197" v="206" actId="1076"/>
        <pc:sldMkLst>
          <pc:docMk/>
          <pc:sldMk cId="0" sldId="271"/>
        </pc:sldMkLst>
        <pc:spChg chg="mod">
          <ac:chgData name="Rajeshwari Pasunuri" userId="c3ce138c40912aea" providerId="LiveId" clId="{48B9BCEC-BB99-4237-B168-360A60A1462B}" dt="2026-09-18T13:29:49.093" v="188" actId="108"/>
          <ac:spMkLst>
            <pc:docMk/>
            <pc:sldMk cId="0" sldId="271"/>
            <ac:spMk id="2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8T13:30:35.698" v="205" actId="12"/>
          <ac:spMkLst>
            <pc:docMk/>
            <pc:sldMk cId="0" sldId="271"/>
            <ac:spMk id="4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8T13:30:30.748" v="202" actId="12"/>
          <ac:spMkLst>
            <pc:docMk/>
            <pc:sldMk cId="0" sldId="271"/>
            <ac:spMk id="5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8T13:30:26.177" v="199" actId="12"/>
          <ac:spMkLst>
            <pc:docMk/>
            <pc:sldMk cId="0" sldId="271"/>
            <ac:spMk id="6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8T13:30:21.769" v="196" actId="12"/>
          <ac:spMkLst>
            <pc:docMk/>
            <pc:sldMk cId="0" sldId="271"/>
            <ac:spMk id="7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8T13:30:45.197" v="206" actId="1076"/>
          <ac:spMkLst>
            <pc:docMk/>
            <pc:sldMk cId="0" sldId="271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914400"/>
            <a:ext cx="109728" cy="4754880"/>
          </a:xfrm>
          <a:prstGeom prst="rect">
            <a:avLst/>
          </a:prstGeom>
          <a:solidFill>
            <a:srgbClr val="12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143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MARKET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01168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CDE0E4"/>
                </a:solidFill>
                <a:latin typeface="Aptos"/>
              </a:defRPr>
            </a:pPr>
            <a:r>
              <a:t>Customer Purchasing Behavior &amp; Product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AABEC6"/>
                </a:solidFill>
                <a:latin typeface="Aptos"/>
              </a:defRPr>
            </a:pPr>
            <a:r>
              <a:rPr dirty="0"/>
              <a:t>CDACL-006 • SQL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977639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Orders • Customers • Products • Aisles • Departments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4"/>
                </a:solidFill>
                <a:latin typeface="Aptos Display"/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B6C78"/>
                </a:solidFill>
                <a:latin typeface="Aptos"/>
              </a:defRPr>
            </a:pPr>
            <a:r>
              <a:t>Key measures from the completed SQL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188720"/>
          </a:xfrm>
          <a:prstGeom prst="rect">
            <a:avLst/>
          </a:prstGeom>
          <a:solidFill>
            <a:srgbClr val="12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72184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34"/>
                </a:solidFill>
                <a:latin typeface="Aptos Display"/>
              </a:defRPr>
            </a:pPr>
            <a:r>
              <a:t>63,100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C78"/>
                </a:solidFill>
                <a:latin typeface="Aptos"/>
              </a:defRPr>
            </a:pPr>
            <a:r>
              <a:t>Unique 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9000" y="1325880"/>
            <a:ext cx="64008" cy="1188720"/>
          </a:xfrm>
          <a:prstGeom prst="rect">
            <a:avLst/>
          </a:prstGeom>
          <a:solidFill>
            <a:srgbClr val="12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0168" y="1472184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34"/>
                </a:solidFill>
                <a:latin typeface="Aptos Display"/>
              </a:defRPr>
            </a:pPr>
            <a:r>
              <a:t>10.53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198424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C78"/>
                </a:solidFill>
                <a:latin typeface="Aptos"/>
              </a:defRPr>
            </a:pPr>
            <a:r>
              <a:t>Avg products / 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880360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2880360"/>
            <a:ext cx="64008" cy="1188720"/>
          </a:xfrm>
          <a:prstGeom prst="rect">
            <a:avLst/>
          </a:prstGeom>
          <a:solidFill>
            <a:srgbClr val="12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3026664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34"/>
                </a:solidFill>
                <a:latin typeface="Aptos Display"/>
              </a:defRPr>
            </a:pPr>
            <a:r>
              <a:rPr dirty="0"/>
              <a:t>88,228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53872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C78"/>
                </a:solidFill>
                <a:latin typeface="Aptos"/>
              </a:defRPr>
            </a:pPr>
            <a:r>
              <a:t>Orders at 10:00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880360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15400" y="2880360"/>
            <a:ext cx="64008" cy="1188720"/>
          </a:xfrm>
          <a:prstGeom prst="rect">
            <a:avLst/>
          </a:prstGeom>
          <a:solidFill>
            <a:srgbClr val="12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16568" y="3026664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34"/>
                </a:solidFill>
                <a:latin typeface="Aptos Display"/>
              </a:defRPr>
            </a:pPr>
            <a:r>
              <a:t>14,136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353872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C78"/>
                </a:solidFill>
                <a:latin typeface="Aptos"/>
              </a:defRPr>
            </a:pPr>
            <a:r>
              <a:t>Banana orders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1325880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1325880"/>
            <a:ext cx="64008" cy="1188720"/>
          </a:xfrm>
          <a:prstGeom prst="rect">
            <a:avLst/>
          </a:prstGeom>
          <a:solidFill>
            <a:srgbClr val="12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1472184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34"/>
                </a:solidFill>
                <a:latin typeface="Aptos Display"/>
              </a:defRPr>
            </a:pPr>
            <a:r>
              <a:t>22,303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198424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C78"/>
                </a:solidFill>
                <a:latin typeface="Aptos"/>
              </a:defRPr>
            </a:pPr>
            <a:r>
              <a:t>Produce users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1325880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29000" y="1325880"/>
            <a:ext cx="64008" cy="1188720"/>
          </a:xfrm>
          <a:prstGeom prst="rect">
            <a:avLst/>
          </a:prstGeom>
          <a:solidFill>
            <a:srgbClr val="12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30168" y="1472184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34"/>
                </a:solidFill>
                <a:latin typeface="Aptos Display"/>
              </a:defRPr>
            </a:pPr>
            <a:r>
              <a:t>79.23%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198424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C78"/>
                </a:solidFill>
                <a:latin typeface="Aptos"/>
              </a:defRPr>
            </a:pPr>
            <a:r>
              <a:t>Milk reorder 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1685" y="1325044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Rectangle 29"/>
          <p:cNvSpPr/>
          <p:nvPr/>
        </p:nvSpPr>
        <p:spPr>
          <a:xfrm>
            <a:off x="6161685" y="1331902"/>
            <a:ext cx="64008" cy="1188720"/>
          </a:xfrm>
          <a:prstGeom prst="rect">
            <a:avLst/>
          </a:prstGeom>
          <a:solidFill>
            <a:srgbClr val="12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71997" y="1472184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34"/>
                </a:solidFill>
                <a:latin typeface="Aptos Display"/>
              </a:defRPr>
            </a:pPr>
            <a:r>
              <a:rPr dirty="0"/>
              <a:t>29,635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0849" y="2020824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C78"/>
                </a:solidFill>
                <a:latin typeface="Aptos"/>
              </a:defRPr>
            </a:pPr>
            <a:r>
              <a:rPr dirty="0"/>
              <a:t>6–10 product orders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1275588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19287" y="1300734"/>
            <a:ext cx="64008" cy="1188720"/>
          </a:xfrm>
          <a:prstGeom prst="rect">
            <a:avLst/>
          </a:prstGeom>
          <a:solidFill>
            <a:srgbClr val="12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15197" y="146031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34"/>
                </a:solidFill>
                <a:latin typeface="Aptos Display"/>
              </a:defRPr>
            </a:pPr>
            <a:r>
              <a:t>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7493" y="1944919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C78"/>
                </a:solidFill>
                <a:latin typeface="Aptos"/>
              </a:defRPr>
            </a:pPr>
            <a:r>
              <a:rPr dirty="0"/>
              <a:t>Max orders / top user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5637" y="4808017"/>
            <a:ext cx="7007431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02B33"/>
                </a:solidFill>
                <a:latin typeface="Aptos"/>
              </a:defRPr>
            </a:pPr>
            <a:r>
              <a:rPr sz="1600" dirty="0"/>
              <a:t>Demand is concentrated in everyday grocery and fresh-produce products.</a:t>
            </a:r>
            <a:r>
              <a:rPr lang="en-US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02B33"/>
                </a:solidFill>
                <a:latin typeface="Aptos"/>
              </a:defRPr>
            </a:pPr>
            <a:r>
              <a:rPr lang="en-US" sz="1600" dirty="0"/>
              <a:t>Customers commonly build multi-product baskets.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02B33"/>
                </a:solidFill>
                <a:latin typeface="Aptos"/>
              </a:defRPr>
            </a:pPr>
            <a:r>
              <a:rPr lang="en-US" sz="1600" dirty="0"/>
              <a:t>Daytime ordering is the strongest observed pattern.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02B33"/>
                </a:solidFill>
                <a:latin typeface="Aptos"/>
              </a:defRPr>
            </a:pPr>
            <a:r>
              <a:rPr lang="en-US" sz="1600" dirty="0"/>
              <a:t>Repeat purchasing is prominent in several essential categories.</a:t>
            </a:r>
            <a:endParaRPr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685800" y="640281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C78"/>
                </a:solidFill>
                <a:latin typeface="Aptos"/>
              </a:defRPr>
            </a:pPr>
            <a:r>
              <a:rPr dirty="0"/>
              <a:t>CDACL-006 • Market Analysis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4"/>
                </a:solidFill>
                <a:latin typeface="Aptos Display"/>
              </a:defRPr>
            </a:pPr>
            <a: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B6C78"/>
                </a:solidFill>
                <a:latin typeface="Aptos"/>
              </a:defRPr>
            </a:pPr>
            <a:r>
              <a:t>Tables and analytical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202B33"/>
                </a:solidFill>
                <a:latin typeface="Aptos"/>
              </a:defRPr>
            </a:pPr>
            <a:r>
              <a:t>• orders → customer, order sequence, day, hour and prior-order interval.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9339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202B33"/>
                </a:solidFill>
                <a:latin typeface="Aptos"/>
              </a:defRPr>
            </a:pPr>
            <a:r>
              <a:t>• order_products_train → products in each order, cart position and reorder flag.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15184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202B33"/>
                </a:solidFill>
                <a:latin typeface="Aptos"/>
              </a:defRPr>
            </a:pPr>
            <a:r>
              <a:t>• products → product name plus aisle and department.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36976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202B33"/>
                </a:solidFill>
                <a:latin typeface="Aptos"/>
              </a:defRPr>
            </a:pPr>
            <a:r>
              <a:t>• aisles + departments → product-category hierarchy.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58768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202B33"/>
                </a:solidFill>
                <a:latin typeface="Aptos"/>
              </a:defRPr>
            </a:pPr>
            <a:r>
              <a:t>• Core flow: orders → order_products_train → products → aisles / departments.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C78"/>
                </a:solidFill>
                <a:latin typeface="Aptos"/>
              </a:defRPr>
            </a:pPr>
            <a:r>
              <a:t>CDACL-006 • Market Analysis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4"/>
                </a:solidFill>
                <a:latin typeface="Aptos Display"/>
              </a:defRPr>
            </a:pPr>
            <a:r>
              <a:t>Ordering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B6C78"/>
                </a:solidFill>
                <a:latin typeface="Aptos"/>
              </a:defRPr>
            </a:pPr>
            <a:r>
              <a:t>Order activity is concentrated during daytime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017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64008" cy="1188720"/>
          </a:xfrm>
          <a:prstGeom prst="rect">
            <a:avLst/>
          </a:prstGeom>
          <a:solidFill>
            <a:srgbClr val="12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47218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34"/>
                </a:solidFill>
                <a:latin typeface="Aptos Display"/>
              </a:defRPr>
            </a:pPr>
            <a:r>
              <a:t>88,228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C78"/>
                </a:solidFill>
                <a:latin typeface="Aptos"/>
              </a:defRPr>
            </a:pPr>
            <a:r>
              <a:t>Peak hour: 10:00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1325880"/>
            <a:ext cx="3017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31920" y="1325880"/>
            <a:ext cx="64008" cy="1188720"/>
          </a:xfrm>
          <a:prstGeom prst="rect">
            <a:avLst/>
          </a:prstGeom>
          <a:solidFill>
            <a:srgbClr val="12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33087" y="147218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34"/>
                </a:solidFill>
                <a:latin typeface="Aptos Display"/>
              </a:defRPr>
            </a:pPr>
            <a:r>
              <a:t>86,905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7" y="198424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C78"/>
                </a:solidFill>
                <a:latin typeface="Aptos"/>
              </a:defRPr>
            </a:pPr>
            <a:r>
              <a:t>Orders at 14:00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325880"/>
            <a:ext cx="3017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1325880"/>
            <a:ext cx="64008" cy="1188720"/>
          </a:xfrm>
          <a:prstGeom prst="rect">
            <a:avLst/>
          </a:prstGeom>
          <a:solidFill>
            <a:srgbClr val="12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33488" y="147218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34"/>
                </a:solidFill>
                <a:latin typeface="Aptos Display"/>
              </a:defRPr>
            </a:pPr>
            <a:r>
              <a:t>86,888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198424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C78"/>
                </a:solidFill>
                <a:latin typeface="Aptos"/>
              </a:defRPr>
            </a:pPr>
            <a:r>
              <a:t>Orders at 15:00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7180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202B33"/>
                </a:solidFill>
                <a:latin typeface="Aptos"/>
              </a:defRPr>
            </a:pPr>
            <a:r>
              <a:t>• Activity rises sharply from 07:00.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9359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202B33"/>
                </a:solidFill>
                <a:latin typeface="Aptos"/>
              </a:defRPr>
            </a:pPr>
            <a:r>
              <a:t>• High volume continues through the afternoon.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15384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202B33"/>
                </a:solidFill>
                <a:latin typeface="Aptos"/>
              </a:defRPr>
            </a:pPr>
            <a:r>
              <a:t>• Order volume declines after 16:00.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37176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202B33"/>
                </a:solidFill>
                <a:latin typeface="Aptos"/>
              </a:defRPr>
            </a:pPr>
            <a:r>
              <a:t>• The dataset provides hour codes only; no timezone is inferred.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C78"/>
                </a:solidFill>
                <a:latin typeface="Aptos"/>
              </a:defRPr>
            </a:pPr>
            <a:r>
              <a:t>CDACL-006 • Market Analysis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4"/>
                </a:solidFill>
                <a:latin typeface="Aptos Display"/>
              </a:defRPr>
            </a:pPr>
            <a:r>
              <a:t>Basket Size &amp; Order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B6C78"/>
                </a:solidFill>
                <a:latin typeface="Aptos"/>
              </a:defRPr>
            </a:pPr>
            <a:r>
              <a:t>Customers frequently place multi-product orders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58521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Order-size group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Orders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202B33"/>
                          </a:solidFill>
                        </a:rPr>
                        <a:t>1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5,211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202B33"/>
                          </a:solidFill>
                        </a:rPr>
                        <a:t>2–5 products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24,745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6–10 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29,635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11–20 products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29,051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21+ 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202B33"/>
                          </a:solidFill>
                        </a:rPr>
                        <a:t>10,932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1417320"/>
            <a:ext cx="3017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1417320"/>
            <a:ext cx="64008" cy="1188720"/>
          </a:xfrm>
          <a:prstGeom prst="rect">
            <a:avLst/>
          </a:prstGeom>
          <a:solidFill>
            <a:srgbClr val="12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16368" y="156362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34"/>
                </a:solidFill>
                <a:latin typeface="Aptos Display"/>
              </a:defRPr>
            </a:pPr>
            <a:r>
              <a:t>10.53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6368" y="207568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C78"/>
                </a:solidFill>
                <a:latin typeface="Aptos"/>
              </a:defRPr>
            </a:pPr>
            <a:r>
              <a:t>Average products /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3076" y="2993094"/>
            <a:ext cx="50325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02B33"/>
                </a:solidFill>
                <a:latin typeface="Aptos"/>
              </a:defRPr>
            </a:pPr>
            <a:r>
              <a:rPr dirty="0"/>
              <a:t>6–10 products is the largest group.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02B33"/>
                </a:solidFill>
                <a:latin typeface="Aptos"/>
              </a:defRPr>
            </a:pPr>
            <a:r>
              <a:rPr lang="en-US" dirty="0"/>
              <a:t>11–20 products is also highly represented.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02B33"/>
                </a:solidFill>
                <a:latin typeface="Aptos"/>
              </a:defRPr>
            </a:pPr>
            <a:r>
              <a:rPr lang="en-US" dirty="0"/>
              <a:t>These patterns support cross-selling and bundle opportunities.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C78"/>
                </a:solidFill>
                <a:latin typeface="Aptos"/>
              </a:defRPr>
            </a:pPr>
            <a:r>
              <a:t>CDACL-006 • Market Analysis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4"/>
                </a:solidFill>
                <a:latin typeface="Aptos Display"/>
              </a:defRPr>
            </a:pPr>
            <a:r>
              <a:t>Most Ordered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B6C78"/>
                </a:solidFill>
                <a:latin typeface="Aptos"/>
              </a:defRPr>
            </a:pPr>
            <a:r>
              <a:t>Fresh produce dominates the top-demand list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188720"/>
          <a:ext cx="1088136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73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Orders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Banana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14,136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Bag of Organic Bananas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11,639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Organic Strawberries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8,233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Organic Baby Spinach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7,443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Large Lemon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6,148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Organic Avocado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5,606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Organic Hass Avocado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5,489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Strawberries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4,920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Limes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4,609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7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Organic Raspberries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4,200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C78"/>
                </a:solidFill>
                <a:latin typeface="Aptos"/>
              </a:defRPr>
            </a:pPr>
            <a:r>
              <a:t>CDACL-006 • Market Analysis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4"/>
                </a:solidFill>
                <a:latin typeface="Aptos Display"/>
              </a:defRPr>
            </a:pPr>
            <a:r>
              <a:t>Repeat Purchase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B6C78"/>
                </a:solidFill>
                <a:latin typeface="Aptos"/>
              </a:defRPr>
            </a:pPr>
            <a:r>
              <a:t>Highest reorder-rate aisles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855631"/>
              </p:ext>
            </p:extLst>
          </p:nvPr>
        </p:nvGraphicFramePr>
        <p:xfrm>
          <a:off x="640081" y="1188720"/>
          <a:ext cx="607535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7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7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73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Aisle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Average reorder rate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Milk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79.23%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Water / Seltzer / Sparkling Water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73.79%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Fresh Fruits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73.53%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Eggs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72.69%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Packaged Produce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71.39%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Cream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69.54%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Soy / Lactosefree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68.71%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Yogurt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68.62%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White Wines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68.10%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7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Bread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202B33"/>
                          </a:solidFill>
                        </a:rPr>
                        <a:t>68.06%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43916" y="1736229"/>
            <a:ext cx="441929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202B33"/>
                </a:solidFill>
                <a:latin typeface="Aptos"/>
              </a:defRPr>
            </a:pPr>
            <a:r>
              <a:rPr dirty="0"/>
              <a:t>Milk has the highest observed aisle-level reorder rate: 79.23%.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202B33"/>
                </a:solidFill>
                <a:latin typeface="Aptos"/>
              </a:defRPr>
            </a:pPr>
            <a:r>
              <a:rPr lang="en-US" dirty="0"/>
              <a:t>Fresh fruits and packaged produce also show strong repeat behavior.</a:t>
            </a:r>
          </a:p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202B33"/>
                </a:solidFill>
                <a:latin typeface="Aptos"/>
              </a:defRPr>
            </a:pPr>
            <a:r>
              <a:rPr lang="en-US" dirty="0"/>
              <a:t>These categories are relevant for replenishment reminders.</a:t>
            </a:r>
          </a:p>
          <a:p>
            <a:pPr>
              <a:defRPr sz="1300" b="0">
                <a:solidFill>
                  <a:srgbClr val="202B33"/>
                </a:solidFill>
                <a:latin typeface="Aptos"/>
              </a:defRPr>
            </a:pPr>
            <a:endParaRPr lang="en-US" dirty="0"/>
          </a:p>
          <a:p>
            <a:pPr>
              <a:defRPr sz="1300" b="0">
                <a:solidFill>
                  <a:srgbClr val="202B33"/>
                </a:solidFill>
                <a:latin typeface="Aptos"/>
              </a:defRPr>
            </a:pP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C78"/>
                </a:solidFill>
                <a:latin typeface="Aptos"/>
              </a:defRPr>
            </a:pPr>
            <a:r>
              <a:t>CDACL-006 • Market Analysis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4"/>
                </a:solidFill>
                <a:latin typeface="Aptos Display"/>
              </a:defRPr>
            </a:pPr>
            <a:r>
              <a:t>Customer Reach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B6C78"/>
                </a:solidFill>
                <a:latin typeface="Aptos"/>
              </a:defRPr>
            </a:pPr>
            <a:r>
              <a:t>Distinct users purchasing within each department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74066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73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Department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Unique users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Produce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22,303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Dairy eggs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20,153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Beverages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14,024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Snacks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13,304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Frozen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11,742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Pantry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10,886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Bakery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8,326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Deli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7,430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Canned goods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6,697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7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Dry goods pasta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B33"/>
                          </a:solidFill>
                        </a:rPr>
                        <a:t>5,942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03921" y="2435109"/>
            <a:ext cx="337344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02B33"/>
                </a:solidFill>
                <a:latin typeface="Aptos"/>
              </a:defRPr>
            </a:pPr>
            <a:r>
              <a:rPr dirty="0"/>
              <a:t>Produce has the highest customer reach.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02B33"/>
                </a:solidFill>
                <a:latin typeface="Aptos"/>
              </a:defRPr>
            </a:pPr>
            <a:r>
              <a:rPr lang="en-US" dirty="0"/>
              <a:t>Users may appear in multiple departments, so counts should not be summed.</a:t>
            </a:r>
          </a:p>
          <a:p>
            <a:pPr>
              <a:defRPr sz="1400" b="0">
                <a:solidFill>
                  <a:srgbClr val="202B33"/>
                </a:solidFill>
                <a:latin typeface="Aptos"/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C78"/>
                </a:solidFill>
                <a:latin typeface="Aptos"/>
              </a:defRPr>
            </a:pPr>
            <a:r>
              <a:t>CDACL-006 • Market Analysis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4"/>
                </a:solidFill>
                <a:latin typeface="Aptos Display"/>
              </a:defRPr>
            </a:pPr>
            <a:r>
              <a:t>Most Reordered Product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B6C78"/>
                </a:solidFill>
                <a:latin typeface="Aptos"/>
              </a:defRPr>
            </a:pPr>
            <a:r>
              <a:t>Measured by reorder event count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88720"/>
          <a:ext cx="110642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73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Department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Reorders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Produce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Banana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12,461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Dairy eggs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Organic Whole Milk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3,154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Beverages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Sparkling Water Grapefruit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02B33"/>
                          </a:solidFill>
                        </a:rPr>
                        <a:t>2,027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Deli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Original Hummus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1,676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Bakery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100% Whole Wheat Bread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1,319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Frozen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Blueberries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1,051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Pantry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Extra Virgin Olive Oil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Canned goods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Organic Black Beans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752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Breakfast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Honey Nut Cheerios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7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Meat seafood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B33"/>
                          </a:solidFill>
                        </a:rPr>
                        <a:t>Ground Turkey Breast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02B33"/>
                          </a:solidFill>
                        </a:rPr>
                        <a:t>501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C78"/>
                </a:solidFill>
                <a:latin typeface="Aptos"/>
              </a:defRPr>
            </a:pPr>
            <a:r>
              <a:t>CDACL-006 • Market Analysis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4"/>
                </a:solidFill>
                <a:latin typeface="Aptos Display"/>
              </a:defRPr>
            </a:pPr>
            <a:r>
              <a:t>Weekly Purchasing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B6C78"/>
                </a:solidFill>
                <a:latin typeface="Aptos"/>
              </a:defRPr>
            </a:pPr>
            <a:r>
              <a:t>Order volume and average basket by dataset day code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6858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order_dow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Order volume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Avg products / order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183,939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11.72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180,025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10.29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143,162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9.91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133,839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9.67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130,367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9.85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139,183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10.20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138,060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11.03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1645920"/>
            <a:ext cx="361433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02B33"/>
                </a:solidFill>
                <a:latin typeface="Aptos"/>
              </a:defRPr>
            </a:pPr>
            <a:r>
              <a:rPr dirty="0"/>
              <a:t>Day 0 has the highest order volume and largest average basket.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02B33"/>
                </a:solidFill>
                <a:latin typeface="Aptos"/>
              </a:defRPr>
            </a:pPr>
            <a:r>
              <a:rPr lang="en-US" dirty="0"/>
              <a:t>Day 3 has the smallest average basket.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02B33"/>
                </a:solidFill>
                <a:latin typeface="Aptos"/>
              </a:defRPr>
            </a:pPr>
            <a:r>
              <a:rPr lang="en-US" dirty="0"/>
              <a:t>Weekday names are not assigned because the 0–6 mapping was not supplied.</a:t>
            </a:r>
          </a:p>
          <a:p>
            <a:pPr>
              <a:defRPr sz="1400" b="0">
                <a:solidFill>
                  <a:srgbClr val="202B33"/>
                </a:solidFill>
                <a:latin typeface="Aptos"/>
              </a:defRPr>
            </a:pP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C78"/>
                </a:solidFill>
                <a:latin typeface="Aptos"/>
              </a:defRPr>
            </a:pPr>
            <a:r>
              <a:t>CDACL-006 • Market Analysis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4"/>
                </a:solidFill>
                <a:latin typeface="Aptos Display"/>
              </a:defRPr>
            </a:pPr>
            <a:r>
              <a:t>Top Customers by Order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B6C78"/>
                </a:solidFill>
                <a:latin typeface="Aptos"/>
              </a:defRPr>
            </a:pPr>
            <a:r>
              <a:t>Highest observed order counts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371600"/>
          <a:ext cx="56692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01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User ID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Order count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30650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18275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25422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25306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53837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33731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5932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47302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3742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90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6398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B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1463040"/>
            <a:ext cx="3108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1463040"/>
            <a:ext cx="64008" cy="1188720"/>
          </a:xfrm>
          <a:prstGeom prst="rect">
            <a:avLst/>
          </a:prstGeom>
          <a:solidFill>
            <a:srgbClr val="12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16368" y="1609344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34"/>
                </a:solidFill>
                <a:latin typeface="Aptos Display"/>
              </a:defRPr>
            </a:pPr>
            <a: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6368" y="212140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C78"/>
                </a:solidFill>
                <a:latin typeface="Aptos"/>
              </a:defRPr>
            </a:pPr>
            <a:r>
              <a:t>Orders for each listed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1" y="3108960"/>
            <a:ext cx="434585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202B33"/>
                </a:solidFill>
                <a:latin typeface="Aptos"/>
              </a:defRPr>
            </a:pPr>
            <a:r>
              <a:rPr dirty="0"/>
              <a:t>The top 10 returned by the query are tied at 100 orders.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202B33"/>
                </a:solidFill>
                <a:latin typeface="Aptos"/>
              </a:defRPr>
            </a:pPr>
            <a:r>
              <a:rPr lang="en-US" dirty="0"/>
              <a:t>This group can be treated as a high-frequency customer segment for further analysis.</a:t>
            </a:r>
          </a:p>
          <a:p>
            <a:pPr>
              <a:defRPr sz="1300" b="0">
                <a:solidFill>
                  <a:srgbClr val="202B33"/>
                </a:solidFill>
                <a:latin typeface="Aptos"/>
              </a:defRPr>
            </a:pP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C78"/>
                </a:solidFill>
                <a:latin typeface="Aptos"/>
              </a:defRPr>
            </a:pPr>
            <a:r>
              <a:t>CDACL-006 • Market Analysis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4"/>
                </a:solidFill>
                <a:latin typeface="Aptos Display"/>
              </a:defRPr>
            </a:pPr>
            <a:r>
              <a:t>Product Catalog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B6C78"/>
                </a:solidFill>
                <a:latin typeface="Aptos"/>
              </a:defRPr>
            </a:pPr>
            <a:r>
              <a:t>Products distributed across departments and aisles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64008" cy="1188720"/>
          </a:xfrm>
          <a:prstGeom prst="rect">
            <a:avLst/>
          </a:prstGeom>
          <a:solidFill>
            <a:srgbClr val="12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472184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34"/>
                </a:solidFill>
                <a:latin typeface="Aptos Display"/>
              </a:defRPr>
            </a:pPr>
            <a:r>
              <a:t>49,355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C78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9000" y="1325880"/>
            <a:ext cx="64008" cy="1188720"/>
          </a:xfrm>
          <a:prstGeom prst="rect">
            <a:avLst/>
          </a:prstGeom>
          <a:solidFill>
            <a:srgbClr val="12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0168" y="1472184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34"/>
                </a:solidFill>
                <a:latin typeface="Aptos Display"/>
              </a:defRPr>
            </a:pPr>
            <a: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19842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C78"/>
                </a:solidFill>
                <a:latin typeface="Aptos"/>
              </a:defRPr>
            </a:pPr>
            <a:r>
              <a:t>Departments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2588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325880"/>
            <a:ext cx="64008" cy="1188720"/>
          </a:xfrm>
          <a:prstGeom prst="rect">
            <a:avLst/>
          </a:prstGeom>
          <a:solidFill>
            <a:srgbClr val="12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27648" y="1472184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34"/>
                </a:solidFill>
                <a:latin typeface="Aptos Display"/>
              </a:defRPr>
            </a:pPr>
            <a:r>
              <a:t>134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9842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C78"/>
                </a:solidFill>
                <a:latin typeface="Aptos"/>
              </a:defRPr>
            </a:pPr>
            <a:r>
              <a:t>Aisles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32588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23960" y="1325880"/>
            <a:ext cx="64008" cy="1188720"/>
          </a:xfrm>
          <a:prstGeom prst="rect">
            <a:avLst/>
          </a:prstGeom>
          <a:solidFill>
            <a:srgbClr val="CD9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25128" y="1472184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34"/>
                </a:solidFill>
                <a:latin typeface="Aptos Display"/>
              </a:defRPr>
            </a:pPr>
            <a:r>
              <a:t>1,254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19842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C78"/>
                </a:solidFill>
                <a:latin typeface="Aptos"/>
              </a:defRPr>
            </a:pPr>
            <a:r>
              <a:t>Missing department 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97180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202B33"/>
                </a:solidFill>
                <a:latin typeface="Aptos"/>
              </a:defRPr>
            </a:pPr>
            <a:r>
              <a:t>• Largest departments by product count: Personal care (6,524), Snacks (6,221), Pantry (5,331), Beverages (4,324), Frozen (3,982).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9359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202B33"/>
                </a:solidFill>
                <a:latin typeface="Aptos"/>
              </a:defRPr>
            </a:pPr>
            <a:r>
              <a:t>• Largest aisles include Candy Chocolate (1,235), Ice Cream Ice (1,084), Vitamins Supplements (1,030), Yogurt (1,023), and Tea (887).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15384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202B33"/>
                </a:solidFill>
                <a:latin typeface="Aptos"/>
              </a:defRPr>
            </a:pPr>
            <a:r>
              <a:t>• The database value 'missing' is preserved.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C78"/>
                </a:solidFill>
                <a:latin typeface="Aptos"/>
              </a:defRPr>
            </a:pPr>
            <a:r>
              <a:t>CDACL-006 • Market Analysis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4"/>
                </a:solidFill>
                <a:latin typeface="Aptos Display"/>
              </a:defRPr>
            </a:pPr>
            <a:r>
              <a:t>Customer &amp; Product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B6C78"/>
                </a:solidFill>
                <a:latin typeface="Aptos"/>
              </a:defRPr>
            </a:pPr>
            <a:r>
              <a:t>Synthesis of the completed SQL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202B33"/>
                </a:solidFill>
                <a:latin typeface="Aptos"/>
              </a:defRPr>
            </a:pPr>
            <a:r>
              <a:t>• 63,100 users are represented, with an average order size of 10.53 products.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202B33"/>
                </a:solidFill>
                <a:latin typeface="Aptos"/>
              </a:defRPr>
            </a:pPr>
            <a:r>
              <a:t>• Daytime ordering is dominant, with 10:00 as the peak observed hour.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202B33"/>
                </a:solidFill>
                <a:latin typeface="Aptos"/>
              </a:defRPr>
            </a:pPr>
            <a:r>
              <a:t>• Bananas, strawberries, spinach, lemons and avocados are prominent among most-ordered products.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45536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202B33"/>
                </a:solidFill>
                <a:latin typeface="Aptos"/>
              </a:defRPr>
            </a:pPr>
            <a:r>
              <a:t>• Milk, fresh fruits, eggs and packaged produce show high aisle-level reorder rates.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67328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202B33"/>
                </a:solidFill>
                <a:latin typeface="Aptos"/>
              </a:defRPr>
            </a:pPr>
            <a:r>
              <a:t>• Produce has the highest number of distinct purchasing users.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202B33"/>
                </a:solidFill>
                <a:latin typeface="Aptos"/>
              </a:defRPr>
            </a:pPr>
            <a:r>
              <a:t>• The product catalog is concentrated across several large departments and aisles.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C78"/>
                </a:solidFill>
                <a:latin typeface="Aptos"/>
              </a:defRPr>
            </a:pPr>
            <a:r>
              <a:t>CDACL-006 • Market Analysis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4"/>
                </a:solidFill>
                <a:latin typeface="Aptos Display"/>
              </a:defRPr>
            </a:pPr>
            <a:r>
              <a:t>Marketing &amp; Customer Experience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B6C78"/>
                </a:solidFill>
                <a:latin typeface="Aptos"/>
              </a:defRPr>
            </a:pPr>
            <a:r>
              <a:t>Actions connected to observed patterns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Opportunity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Application</a:t>
                      </a:r>
                    </a:p>
                  </a:txBody>
                  <a:tcPr>
                    <a:solidFill>
                      <a:srgbClr val="1223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B33"/>
                          </a:solidFill>
                        </a:rPr>
                        <a:t>Personalized recommendations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B33"/>
                          </a:solidFill>
                        </a:rPr>
                        <a:t>Use prior purchases to surface relevant repeat and complementary products.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B33"/>
                          </a:solidFill>
                        </a:rPr>
                        <a:t>Replenishment reminders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B33"/>
                          </a:solidFill>
                        </a:rPr>
                        <a:t>Prioritize recurring categories such as milk, eggs and produce.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B33"/>
                          </a:solidFill>
                        </a:rPr>
                        <a:t>Cross-selling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B33"/>
                          </a:solidFill>
                        </a:rPr>
                        <a:t>Pair high-demand products with complementary items.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B33"/>
                          </a:solidFill>
                        </a:rPr>
                        <a:t>Time-based campaigns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B33"/>
                          </a:solidFill>
                        </a:rPr>
                        <a:t>Use high-volume ordering periods as candidate messaging windows.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B33"/>
                          </a:solidFill>
                        </a:rPr>
                        <a:t>Basket bundles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B33"/>
                          </a:solidFill>
                        </a:rPr>
                        <a:t>Build multi-item offers around 6–10 and 11–20 product baskets.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B33"/>
                          </a:solidFill>
                        </a:rPr>
                        <a:t>Loyalty engagement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B33"/>
                          </a:solidFill>
                        </a:rPr>
                        <a:t>Use high-frequency customers for personalized loyalty communications.</a:t>
                      </a:r>
                    </a:p>
                  </a:txBody>
                  <a:tcPr>
                    <a:solidFill>
                      <a:srgbClr val="F4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C78"/>
                </a:solidFill>
                <a:latin typeface="Aptos"/>
              </a:defRPr>
            </a:pPr>
            <a:r>
              <a:t>CDACL-006 • Market Analysis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4"/>
                </a:solidFill>
                <a:latin typeface="Aptos Display"/>
              </a:defRPr>
            </a:pPr>
            <a:r>
              <a:t>Methodology &amp; Data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B6C78"/>
                </a:solidFill>
                <a:latin typeface="Aptos"/>
              </a:defRPr>
            </a:pPr>
            <a:r>
              <a:t>Interpretation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02B33"/>
                </a:solidFill>
                <a:latin typeface="Aptos"/>
              </a:defRPr>
            </a:pPr>
            <a:r>
              <a:t>• Aisle/department product counts are catalog counts, not sales volume.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4767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02B33"/>
                </a:solidFill>
                <a:latin typeface="Aptos"/>
              </a:defRPr>
            </a:pPr>
            <a:r>
              <a:t>• Q4 product reorder-rate ranking used a minimum of 10 recorded purchases.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9464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02B33"/>
                </a:solidFill>
                <a:latin typeface="Aptos"/>
              </a:defRPr>
            </a:pPr>
            <a:r>
              <a:t>• Department user counts are distinct users; users can occur in multiple departments.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91256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02B33"/>
                </a:solidFill>
                <a:latin typeface="Aptos"/>
              </a:defRPr>
            </a:pPr>
            <a:r>
              <a:t>• Order-size analysis uses order_products_train, the available item-level 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13048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02B33"/>
                </a:solidFill>
                <a:latin typeface="Aptos"/>
              </a:defRPr>
            </a:pPr>
            <a:r>
              <a:t>• The project brief names order_products_prior, while the supplied database contains order_products_train.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02B33"/>
                </a:solidFill>
                <a:latin typeface="Aptos"/>
              </a:defRPr>
            </a:pPr>
            <a:r>
              <a:t>• 'missing' category values were preserved.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5663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02B33"/>
                </a:solidFill>
                <a:latin typeface="Aptos"/>
              </a:defRPr>
            </a:pPr>
            <a:r>
              <a:t>• order_dow remains 0–6 because weekday mapping was not supplied.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B6C78"/>
                </a:solidFill>
                <a:latin typeface="Aptos"/>
              </a:defRPr>
            </a:pPr>
            <a:r>
              <a:t>CDACL-006 • Market Analysis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9539278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900" b="0">
                <a:solidFill>
                  <a:srgbClr val="202B33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Fresh produce and everyday essentials are prominent in demand and repeat behavior.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313432"/>
            <a:ext cx="8555932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900" b="0">
                <a:solidFill>
                  <a:schemeClr val="bg1"/>
                </a:solidFill>
                <a:latin typeface="Apto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dirty="0"/>
              <a:t>Customers commonly place multi-product orders, averaging 10.53 products.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35224"/>
            <a:ext cx="8766246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900" b="0">
                <a:solidFill>
                  <a:schemeClr val="bg1"/>
                </a:solidFill>
                <a:latin typeface="Apto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dirty="0"/>
              <a:t>Ordering activity is concentrated in daytime hours, with 10:00 as the peak hour.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57016"/>
            <a:ext cx="1060900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900" b="0">
                <a:solidFill>
                  <a:schemeClr val="bg1"/>
                </a:solidFill>
                <a:latin typeface="Apto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dirty="0"/>
              <a:t>The findings support personalized recommendations, replenishment reminders, cross-selling and time-based campaigns.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91D7D3"/>
                </a:solidFill>
                <a:latin typeface="Aptos"/>
              </a:defRPr>
            </a:pPr>
            <a:r>
              <a:t>SQL  →  Customer Behavior  →  Product Performance  →  Business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ECDD2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1207</Words>
  <Application>Microsoft Office PowerPoint</Application>
  <PresentationFormat>Widescreen</PresentationFormat>
  <Paragraphs>322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Rajeshwari Pasunuri</cp:lastModifiedBy>
  <cp:revision>1</cp:revision>
  <dcterms:created xsi:type="dcterms:W3CDTF">2013-01-27T09:14:16Z</dcterms:created>
  <dcterms:modified xsi:type="dcterms:W3CDTF">2026-09-18T13:31:10Z</dcterms:modified>
  <cp:category/>
</cp:coreProperties>
</file>